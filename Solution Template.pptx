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1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96" d="100"/>
          <a:sy n="96" d="100"/>
        </p:scale>
        <p:origin x="1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544E9-C6E5-4A18-AAA8-30AB2154E091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31E2F-2018-4006-B211-78E11DD0B93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862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49CEE-A445-6128-3136-4EFB3A55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56A06-00C7-F915-9C8F-A074821F5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FA51B-5C66-1F0F-96EF-0513E6BA7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b="0" i="0">
              <a:solidFill>
                <a:srgbClr val="FFFFFF"/>
              </a:solidFill>
              <a:effectLst/>
              <a:latin typeface="SegoeUIVariabl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4A793-0834-F4E7-070B-E046D64F6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D7EFF4-51FF-486A-9D7C-1B652F986D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54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487E-D5A3-3B5D-C966-42407C085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B27E0-3841-C57C-5C1B-F9B5D1059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C9169-7BCC-B233-94E3-0221B9FF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D3B81-5BA7-1CA2-4F50-8029EA3C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B65D-FFEA-B8FF-239C-CAC7720C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76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AE23-CE4A-A4F0-1354-59A44C67C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C62E-E9DB-0279-8720-C15C1F4FA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5E74-7F31-2EAF-ABCD-03BB6952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6211E-B8CE-C7C3-A55E-BE5C2E27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B5F3-60B1-BDAB-D5A2-229658A7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793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0648-E5BE-A202-5370-5B58A59A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1E7C2-5089-A477-F2AF-726809929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05C4D-8884-2E69-F36E-1BD8CBAB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36FB8-6EA1-C27B-8504-95B17CF5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D2558-F7A9-D4AF-7265-F8E65025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5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4E16-33CC-24BA-F245-5B7022B1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BC1A-23A9-6750-C0EF-C89BB3F79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7B618-75E4-547A-94C7-7FA7369CE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737CF-23C8-15D3-C469-A5A27479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A2195-DBEC-C677-32C8-D80C8C92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C804A-BF66-94A0-7F72-C08056438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144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FBFE-AC3A-82AA-C810-2E40C971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613A-CD6E-FCD3-2DB8-20AFEAFE1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862D1-463E-BF2B-29B9-C772958F6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8B1C5-6EC9-AF9A-2313-B0F39E0F2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13991-F792-4343-DAAA-F2F7E4C63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9742F-4ACE-E18E-7292-0EEA87AE7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54561B-5A85-9F27-F6B0-E59C4EA4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221CD-BAE8-3727-F1A9-8C98902A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440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7DD1-8500-6054-8640-858833A2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8F7F1-8C5F-44CC-04E4-E6B639C8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7B048-6B98-5960-31B5-75CCCAC0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9F9AD-FE6D-369A-EA08-4DF26E82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1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FFA658-46ED-5082-7FD4-6BB98340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9068A-2DD5-9FB5-F696-DE6703E6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66740-F055-68F4-9F9C-4EA75938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742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3EF5-F468-A3F3-6017-FDFAE1B8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5E8D2-74BC-FDB2-DF4B-C9FA8F2E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0CF64-DE30-1822-8910-8E5961605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D973D-AE71-F63B-E169-8B523BC9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55C5E-8C6A-052E-B30B-588D63CF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6964B-49F3-305F-3965-3A0C0861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47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5199-7726-DD38-9901-89162D79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BEFAB-75CA-FAB7-C898-78E1F984B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4A0F4-D5DB-9AE3-899B-81954FF96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02F50-303C-7A1C-64EE-0D027544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9214F-5DC4-3540-04B6-9E890F81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B36DC-B6D5-C980-B15B-D993E508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384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DCDA-2401-267D-9308-7980D1B4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E801B-8C4F-EDA0-C09B-BEADABC77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6D7A-FB2D-0C8C-4BDB-B19BB21F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36BA-0446-F004-62B1-C0893217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6C912-28C8-D2FA-F684-28DE6E0A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77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8B072-DF45-0366-A771-90CBAA204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17F08-C871-CC3C-9D36-952DCD0B5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83581-4B90-BD47-EBBA-70F5FA21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FEB2E-A0C2-15FF-5EDF-74E2D40E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58479-8777-BEE3-5B4D-D02F6F72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7478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AF03E-1486-EC97-D73E-CF0185EC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FBB9A-7621-A811-742D-25F2528F3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BBA3-73F2-54EB-8E85-163CDD21E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C7633D-1F15-4B23-B18C-BF31D9FC3609}" type="datetimeFigureOut">
              <a:rPr lang="LID4096" smtClean="0"/>
              <a:t>11/20/2025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2850F-3B77-6964-CFEA-FC38CB3DA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A3903-049E-6863-E832-2C6CCB7A2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71834-FE50-4996-9991-5CF01FF338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734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DA93-915C-1889-5C67-29D64D8F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2">
            <a:extLst>
              <a:ext uri="{FF2B5EF4-FFF2-40B4-BE49-F238E27FC236}">
                <a16:creationId xmlns:a16="http://schemas.microsoft.com/office/drawing/2014/main" id="{454BF29E-1356-21DB-57A7-B3900C1A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1" y="349072"/>
            <a:ext cx="11049000" cy="43088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Whiteboard – </a:t>
            </a:r>
            <a: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Text Semibold"/>
                <a:ea typeface="+mn-ea"/>
                <a:cs typeface="Segoe Sans Text" pitchFamily="2" charset="0"/>
              </a:rPr>
              <a:t>Solutioning of an agentic use case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A03387-CA01-BF70-73BC-2EEC76915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97181" y="1037252"/>
            <a:ext cx="10198076" cy="5484211"/>
          </a:xfrm>
          <a:prstGeom prst="roundRect">
            <a:avLst>
              <a:gd name="adj" fmla="val 172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274320" rtlCol="0" anchor="t" anchorCtr="0"/>
          <a:lstStyle/>
          <a:p>
            <a:pPr marL="2317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SzPct val="110000"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Segoe Sans Tex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32405C-EE2C-314A-2CAF-12B918CB41F9}"/>
              </a:ext>
            </a:extLst>
          </p:cNvPr>
          <p:cNvSpPr/>
          <p:nvPr/>
        </p:nvSpPr>
        <p:spPr>
          <a:xfrm>
            <a:off x="398760" y="1366300"/>
            <a:ext cx="4946141" cy="2174342"/>
          </a:xfrm>
          <a:prstGeom prst="roundRect">
            <a:avLst>
              <a:gd name="adj" fmla="val 35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Business Goals/Pains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(Document goals here to gain agreement, where possible, quantify or qualify goals. Example pain points and objectives below)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Identify Business and IT Decision Maker Point Points 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Delays in getting AI Apps / Agents to production to realize ROI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Lack of security or observability as part of App lifecycle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Complexity in solution development and tool choice</a:t>
            </a:r>
          </a:p>
          <a:p>
            <a:pPr marL="571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List out Business Objective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Objective 1: Faster time to production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Objective 2: Improved security and observability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Objective 3: Ensure scalable, reliable AI App platform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BC78E9-1B06-9929-1068-1120B4BD11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398760" y="3623642"/>
            <a:ext cx="4946140" cy="1500837"/>
          </a:xfrm>
          <a:prstGeom prst="roundRect">
            <a:avLst>
              <a:gd name="adj" fmla="val 59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numCol="1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Current System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(Document systems, processes, users)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Ask the following questions to understand the customer’s current system as you prepare to whiteboard a proposed architecture.</a:t>
            </a:r>
          </a:p>
          <a:p>
            <a:pPr marL="171450" marR="0" lvl="0" indent="-1206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How many users are you expecting?</a:t>
            </a:r>
          </a:p>
          <a:p>
            <a:pPr marL="171450" marR="0" lvl="0" indent="-1206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How will the solution be exposed (custom UI, Teams etc.)</a:t>
            </a:r>
          </a:p>
          <a:p>
            <a:pPr marL="171450" marR="0" lvl="0" indent="-1206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What data sources will be required?</a:t>
            </a:r>
          </a:p>
          <a:p>
            <a:pPr marL="171450" marR="0" lvl="0" indent="-1206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Which parts are already built / bought vs net-new?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0EE629A-CB27-A8FD-CB26-BD0F28A614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398760" y="5214729"/>
            <a:ext cx="2891314" cy="1168736"/>
          </a:xfrm>
          <a:prstGeom prst="roundRect">
            <a:avLst>
              <a:gd name="adj" fmla="val 519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Define Next Steps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(Examples included):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Assess readiness of data sources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Establish AI platform for testing / evaluation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Define reference architecture for each agent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0F17F3-817E-B4CF-D9E5-89A43575F7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>
          <a:xfrm>
            <a:off x="3369365" y="5238636"/>
            <a:ext cx="1975536" cy="1168736"/>
          </a:xfrm>
          <a:prstGeom prst="roundRect">
            <a:avLst>
              <a:gd name="adj" fmla="val 72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Parking Lot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(table out of scope Opportunities. Examples include)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Define RAI strategy</a:t>
            </a:r>
          </a:p>
          <a:p>
            <a:pPr marL="203200" marR="0" lvl="0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Skilling / Enablement strategy</a:t>
            </a:r>
          </a:p>
        </p:txBody>
      </p:sp>
      <p:grpSp>
        <p:nvGrpSpPr>
          <p:cNvPr id="24" name="Group 23" descr="This diagram shows an example of the output from a Whiteboarding workshop for Innovate with Azure AI Apps and Agents displaying current state of tools and APIs, apps, LLMs and data layers.">
            <a:extLst>
              <a:ext uri="{FF2B5EF4-FFF2-40B4-BE49-F238E27FC236}">
                <a16:creationId xmlns:a16="http://schemas.microsoft.com/office/drawing/2014/main" id="{86AF13C1-B970-91EC-CBDA-FFDCD95E0A38}"/>
              </a:ext>
            </a:extLst>
          </p:cNvPr>
          <p:cNvGrpSpPr/>
          <p:nvPr/>
        </p:nvGrpSpPr>
        <p:grpSpPr>
          <a:xfrm>
            <a:off x="5391101" y="1107549"/>
            <a:ext cx="5032340" cy="5394416"/>
            <a:chOff x="5391101" y="1107549"/>
            <a:chExt cx="5032340" cy="539441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CF3F054-014C-D81B-BB4E-FF18D1D735C7}"/>
                </a:ext>
              </a:extLst>
            </p:cNvPr>
            <p:cNvSpPr txBox="1"/>
            <p:nvPr/>
          </p:nvSpPr>
          <p:spPr>
            <a:xfrm>
              <a:off x="5869522" y="1107549"/>
              <a:ext cx="396277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rPr>
                <a:t>Technical Envisioning Workshop example below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20AE616-418F-E168-8D57-10EABAA2868B}"/>
                </a:ext>
              </a:extLst>
            </p:cNvPr>
            <p:cNvSpPr/>
            <p:nvPr/>
          </p:nvSpPr>
          <p:spPr>
            <a:xfrm>
              <a:off x="5391101" y="1264970"/>
              <a:ext cx="5032340" cy="5236995"/>
            </a:xfrm>
            <a:prstGeom prst="rect">
              <a:avLst/>
            </a:prstGeom>
            <a:solidFill>
              <a:srgbClr val="F3F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C78E576-F107-1A79-2F1C-78D7489D95A1}"/>
                </a:ext>
              </a:extLst>
            </p:cNvPr>
            <p:cNvSpPr/>
            <p:nvPr/>
          </p:nvSpPr>
          <p:spPr>
            <a:xfrm>
              <a:off x="5514872" y="1366300"/>
              <a:ext cx="4784798" cy="46282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Priority Use Cases: Loans processing,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automated customer support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F6312E8-407A-B310-3B80-98EC0FA16159}"/>
                </a:ext>
              </a:extLst>
            </p:cNvPr>
            <p:cNvSpPr/>
            <p:nvPr/>
          </p:nvSpPr>
          <p:spPr>
            <a:xfrm>
              <a:off x="5514872" y="2306127"/>
              <a:ext cx="4784798" cy="3444323"/>
            </a:xfrm>
            <a:prstGeom prst="rect">
              <a:avLst/>
            </a:prstGeom>
            <a:solidFill>
              <a:srgbClr val="F3F3F3"/>
            </a:solidFill>
            <a:ln>
              <a:extLst>
                <a:ext uri="{C807C97D-BFC1-408E-A445-0C87EB9F89A2}">
                  <ask:lineSketchStyleProps xmlns:ask="http://schemas.microsoft.com/office/drawing/2018/sketchyshapes" sd="1155671590">
                    <a:custGeom>
                      <a:avLst/>
                      <a:gdLst>
                        <a:gd name="connsiteX0" fmla="*/ 0 w 4784798"/>
                        <a:gd name="connsiteY0" fmla="*/ 0 h 3444323"/>
                        <a:gd name="connsiteX1" fmla="*/ 502404 w 4784798"/>
                        <a:gd name="connsiteY1" fmla="*/ 0 h 3444323"/>
                        <a:gd name="connsiteX2" fmla="*/ 956960 w 4784798"/>
                        <a:gd name="connsiteY2" fmla="*/ 0 h 3444323"/>
                        <a:gd name="connsiteX3" fmla="*/ 1602907 w 4784798"/>
                        <a:gd name="connsiteY3" fmla="*/ 0 h 3444323"/>
                        <a:gd name="connsiteX4" fmla="*/ 2201007 w 4784798"/>
                        <a:gd name="connsiteY4" fmla="*/ 0 h 3444323"/>
                        <a:gd name="connsiteX5" fmla="*/ 2799107 w 4784798"/>
                        <a:gd name="connsiteY5" fmla="*/ 0 h 3444323"/>
                        <a:gd name="connsiteX6" fmla="*/ 3445055 w 4784798"/>
                        <a:gd name="connsiteY6" fmla="*/ 0 h 3444323"/>
                        <a:gd name="connsiteX7" fmla="*/ 4043154 w 4784798"/>
                        <a:gd name="connsiteY7" fmla="*/ 0 h 3444323"/>
                        <a:gd name="connsiteX8" fmla="*/ 4784798 w 4784798"/>
                        <a:gd name="connsiteY8" fmla="*/ 0 h 3444323"/>
                        <a:gd name="connsiteX9" fmla="*/ 4784798 w 4784798"/>
                        <a:gd name="connsiteY9" fmla="*/ 505167 h 3444323"/>
                        <a:gd name="connsiteX10" fmla="*/ 4784798 w 4784798"/>
                        <a:gd name="connsiteY10" fmla="*/ 1079221 h 3444323"/>
                        <a:gd name="connsiteX11" fmla="*/ 4784798 w 4784798"/>
                        <a:gd name="connsiteY11" fmla="*/ 1549945 h 3444323"/>
                        <a:gd name="connsiteX12" fmla="*/ 4784798 w 4784798"/>
                        <a:gd name="connsiteY12" fmla="*/ 2123999 h 3444323"/>
                        <a:gd name="connsiteX13" fmla="*/ 4784798 w 4784798"/>
                        <a:gd name="connsiteY13" fmla="*/ 2594723 h 3444323"/>
                        <a:gd name="connsiteX14" fmla="*/ 4784798 w 4784798"/>
                        <a:gd name="connsiteY14" fmla="*/ 3444323 h 3444323"/>
                        <a:gd name="connsiteX15" fmla="*/ 4091002 w 4784798"/>
                        <a:gd name="connsiteY15" fmla="*/ 3444323 h 3444323"/>
                        <a:gd name="connsiteX16" fmla="*/ 3588599 w 4784798"/>
                        <a:gd name="connsiteY16" fmla="*/ 3444323 h 3444323"/>
                        <a:gd name="connsiteX17" fmla="*/ 2894803 w 4784798"/>
                        <a:gd name="connsiteY17" fmla="*/ 3444323 h 3444323"/>
                        <a:gd name="connsiteX18" fmla="*/ 2296703 w 4784798"/>
                        <a:gd name="connsiteY18" fmla="*/ 3444323 h 3444323"/>
                        <a:gd name="connsiteX19" fmla="*/ 1602907 w 4784798"/>
                        <a:gd name="connsiteY19" fmla="*/ 3444323 h 3444323"/>
                        <a:gd name="connsiteX20" fmla="*/ 1100504 w 4784798"/>
                        <a:gd name="connsiteY20" fmla="*/ 3444323 h 3444323"/>
                        <a:gd name="connsiteX21" fmla="*/ 550252 w 4784798"/>
                        <a:gd name="connsiteY21" fmla="*/ 3444323 h 3444323"/>
                        <a:gd name="connsiteX22" fmla="*/ 0 w 4784798"/>
                        <a:gd name="connsiteY22" fmla="*/ 3444323 h 3444323"/>
                        <a:gd name="connsiteX23" fmla="*/ 0 w 4784798"/>
                        <a:gd name="connsiteY23" fmla="*/ 2973599 h 3444323"/>
                        <a:gd name="connsiteX24" fmla="*/ 0 w 4784798"/>
                        <a:gd name="connsiteY24" fmla="*/ 2468431 h 3444323"/>
                        <a:gd name="connsiteX25" fmla="*/ 0 w 4784798"/>
                        <a:gd name="connsiteY25" fmla="*/ 1997707 h 3444323"/>
                        <a:gd name="connsiteX26" fmla="*/ 0 w 4784798"/>
                        <a:gd name="connsiteY26" fmla="*/ 1389210 h 3444323"/>
                        <a:gd name="connsiteX27" fmla="*/ 0 w 4784798"/>
                        <a:gd name="connsiteY27" fmla="*/ 815156 h 3444323"/>
                        <a:gd name="connsiteX28" fmla="*/ 0 w 4784798"/>
                        <a:gd name="connsiteY28" fmla="*/ 0 h 34443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</a:cxnLst>
                      <a:rect l="l" t="t" r="r" b="b"/>
                      <a:pathLst>
                        <a:path w="4784798" h="3444323" fill="none" extrusionOk="0">
                          <a:moveTo>
                            <a:pt x="0" y="0"/>
                          </a:moveTo>
                          <a:cubicBezTo>
                            <a:pt x="194330" y="-29187"/>
                            <a:pt x="286243" y="26093"/>
                            <a:pt x="502404" y="0"/>
                          </a:cubicBezTo>
                          <a:cubicBezTo>
                            <a:pt x="718565" y="-26093"/>
                            <a:pt x="785037" y="33013"/>
                            <a:pt x="956960" y="0"/>
                          </a:cubicBezTo>
                          <a:cubicBezTo>
                            <a:pt x="1128883" y="-33013"/>
                            <a:pt x="1355207" y="32957"/>
                            <a:pt x="1602907" y="0"/>
                          </a:cubicBezTo>
                          <a:cubicBezTo>
                            <a:pt x="1850607" y="-32957"/>
                            <a:pt x="1942449" y="32278"/>
                            <a:pt x="2201007" y="0"/>
                          </a:cubicBezTo>
                          <a:cubicBezTo>
                            <a:pt x="2459565" y="-32278"/>
                            <a:pt x="2520627" y="20329"/>
                            <a:pt x="2799107" y="0"/>
                          </a:cubicBezTo>
                          <a:cubicBezTo>
                            <a:pt x="3077587" y="-20329"/>
                            <a:pt x="3242862" y="43417"/>
                            <a:pt x="3445055" y="0"/>
                          </a:cubicBezTo>
                          <a:cubicBezTo>
                            <a:pt x="3647248" y="-43417"/>
                            <a:pt x="3892890" y="65878"/>
                            <a:pt x="4043154" y="0"/>
                          </a:cubicBezTo>
                          <a:cubicBezTo>
                            <a:pt x="4193418" y="-65878"/>
                            <a:pt x="4504520" y="68905"/>
                            <a:pt x="4784798" y="0"/>
                          </a:cubicBezTo>
                          <a:cubicBezTo>
                            <a:pt x="4837219" y="225924"/>
                            <a:pt x="4753553" y="277888"/>
                            <a:pt x="4784798" y="505167"/>
                          </a:cubicBezTo>
                          <a:cubicBezTo>
                            <a:pt x="4816043" y="732446"/>
                            <a:pt x="4783061" y="900719"/>
                            <a:pt x="4784798" y="1079221"/>
                          </a:cubicBezTo>
                          <a:cubicBezTo>
                            <a:pt x="4786535" y="1257723"/>
                            <a:pt x="4736852" y="1398632"/>
                            <a:pt x="4784798" y="1549945"/>
                          </a:cubicBezTo>
                          <a:cubicBezTo>
                            <a:pt x="4832744" y="1701258"/>
                            <a:pt x="4775207" y="1853339"/>
                            <a:pt x="4784798" y="2123999"/>
                          </a:cubicBezTo>
                          <a:cubicBezTo>
                            <a:pt x="4794389" y="2394659"/>
                            <a:pt x="4756187" y="2397500"/>
                            <a:pt x="4784798" y="2594723"/>
                          </a:cubicBezTo>
                          <a:cubicBezTo>
                            <a:pt x="4813409" y="2791946"/>
                            <a:pt x="4754380" y="3268744"/>
                            <a:pt x="4784798" y="3444323"/>
                          </a:cubicBezTo>
                          <a:cubicBezTo>
                            <a:pt x="4482599" y="3493658"/>
                            <a:pt x="4301255" y="3424473"/>
                            <a:pt x="4091002" y="3444323"/>
                          </a:cubicBezTo>
                          <a:cubicBezTo>
                            <a:pt x="3880749" y="3464173"/>
                            <a:pt x="3764957" y="3388327"/>
                            <a:pt x="3588599" y="3444323"/>
                          </a:cubicBezTo>
                          <a:cubicBezTo>
                            <a:pt x="3412241" y="3500319"/>
                            <a:pt x="3172810" y="3362255"/>
                            <a:pt x="2894803" y="3444323"/>
                          </a:cubicBezTo>
                          <a:cubicBezTo>
                            <a:pt x="2616796" y="3526391"/>
                            <a:pt x="2514564" y="3390722"/>
                            <a:pt x="2296703" y="3444323"/>
                          </a:cubicBezTo>
                          <a:cubicBezTo>
                            <a:pt x="2078842" y="3497924"/>
                            <a:pt x="1942294" y="3441408"/>
                            <a:pt x="1602907" y="3444323"/>
                          </a:cubicBezTo>
                          <a:cubicBezTo>
                            <a:pt x="1263520" y="3447238"/>
                            <a:pt x="1324466" y="3409478"/>
                            <a:pt x="1100504" y="3444323"/>
                          </a:cubicBezTo>
                          <a:cubicBezTo>
                            <a:pt x="876542" y="3479168"/>
                            <a:pt x="759760" y="3393142"/>
                            <a:pt x="550252" y="3444323"/>
                          </a:cubicBezTo>
                          <a:cubicBezTo>
                            <a:pt x="340744" y="3495504"/>
                            <a:pt x="253500" y="3439712"/>
                            <a:pt x="0" y="3444323"/>
                          </a:cubicBezTo>
                          <a:cubicBezTo>
                            <a:pt x="-8940" y="3254996"/>
                            <a:pt x="13052" y="3101576"/>
                            <a:pt x="0" y="2973599"/>
                          </a:cubicBezTo>
                          <a:cubicBezTo>
                            <a:pt x="-13052" y="2845622"/>
                            <a:pt x="696" y="2625635"/>
                            <a:pt x="0" y="2468431"/>
                          </a:cubicBezTo>
                          <a:cubicBezTo>
                            <a:pt x="-696" y="2311227"/>
                            <a:pt x="41345" y="2173562"/>
                            <a:pt x="0" y="1997707"/>
                          </a:cubicBezTo>
                          <a:cubicBezTo>
                            <a:pt x="-41345" y="1821852"/>
                            <a:pt x="10604" y="1600826"/>
                            <a:pt x="0" y="1389210"/>
                          </a:cubicBezTo>
                          <a:cubicBezTo>
                            <a:pt x="-10604" y="1177594"/>
                            <a:pt x="58745" y="1050596"/>
                            <a:pt x="0" y="815156"/>
                          </a:cubicBezTo>
                          <a:cubicBezTo>
                            <a:pt x="-58745" y="579716"/>
                            <a:pt x="39717" y="344463"/>
                            <a:pt x="0" y="0"/>
                          </a:cubicBezTo>
                          <a:close/>
                        </a:path>
                        <a:path w="4784798" h="3444323" stroke="0" extrusionOk="0">
                          <a:moveTo>
                            <a:pt x="0" y="0"/>
                          </a:moveTo>
                          <a:cubicBezTo>
                            <a:pt x="166897" y="-10291"/>
                            <a:pt x="447092" y="49203"/>
                            <a:pt x="693796" y="0"/>
                          </a:cubicBezTo>
                          <a:cubicBezTo>
                            <a:pt x="940500" y="-49203"/>
                            <a:pt x="1174232" y="24052"/>
                            <a:pt x="1387591" y="0"/>
                          </a:cubicBezTo>
                          <a:cubicBezTo>
                            <a:pt x="1600951" y="-24052"/>
                            <a:pt x="1775398" y="15004"/>
                            <a:pt x="1889995" y="0"/>
                          </a:cubicBezTo>
                          <a:cubicBezTo>
                            <a:pt x="2004592" y="-15004"/>
                            <a:pt x="2223854" y="51872"/>
                            <a:pt x="2392399" y="0"/>
                          </a:cubicBezTo>
                          <a:cubicBezTo>
                            <a:pt x="2560944" y="-51872"/>
                            <a:pt x="2717942" y="18212"/>
                            <a:pt x="2846955" y="0"/>
                          </a:cubicBezTo>
                          <a:cubicBezTo>
                            <a:pt x="2975968" y="-18212"/>
                            <a:pt x="3226986" y="48641"/>
                            <a:pt x="3349359" y="0"/>
                          </a:cubicBezTo>
                          <a:cubicBezTo>
                            <a:pt x="3471732" y="-48641"/>
                            <a:pt x="3687845" y="55391"/>
                            <a:pt x="3851762" y="0"/>
                          </a:cubicBezTo>
                          <a:cubicBezTo>
                            <a:pt x="4015679" y="-55391"/>
                            <a:pt x="4453459" y="36777"/>
                            <a:pt x="4784798" y="0"/>
                          </a:cubicBezTo>
                          <a:cubicBezTo>
                            <a:pt x="4809739" y="104202"/>
                            <a:pt x="4746543" y="268668"/>
                            <a:pt x="4784798" y="505167"/>
                          </a:cubicBezTo>
                          <a:cubicBezTo>
                            <a:pt x="4823053" y="741666"/>
                            <a:pt x="4721920" y="876167"/>
                            <a:pt x="4784798" y="1079221"/>
                          </a:cubicBezTo>
                          <a:cubicBezTo>
                            <a:pt x="4847676" y="1282275"/>
                            <a:pt x="4732808" y="1370838"/>
                            <a:pt x="4784798" y="1549945"/>
                          </a:cubicBezTo>
                          <a:cubicBezTo>
                            <a:pt x="4836788" y="1729052"/>
                            <a:pt x="4754683" y="2024160"/>
                            <a:pt x="4784798" y="2192886"/>
                          </a:cubicBezTo>
                          <a:cubicBezTo>
                            <a:pt x="4814913" y="2361612"/>
                            <a:pt x="4734568" y="2475330"/>
                            <a:pt x="4784798" y="2698053"/>
                          </a:cubicBezTo>
                          <a:cubicBezTo>
                            <a:pt x="4835028" y="2920776"/>
                            <a:pt x="4705859" y="3230162"/>
                            <a:pt x="4784798" y="3444323"/>
                          </a:cubicBezTo>
                          <a:cubicBezTo>
                            <a:pt x="4574962" y="3481069"/>
                            <a:pt x="4430336" y="3409612"/>
                            <a:pt x="4186698" y="3444323"/>
                          </a:cubicBezTo>
                          <a:cubicBezTo>
                            <a:pt x="3943060" y="3479034"/>
                            <a:pt x="3685148" y="3441934"/>
                            <a:pt x="3492903" y="3444323"/>
                          </a:cubicBezTo>
                          <a:cubicBezTo>
                            <a:pt x="3300658" y="3446712"/>
                            <a:pt x="3097833" y="3431445"/>
                            <a:pt x="2942651" y="3444323"/>
                          </a:cubicBezTo>
                          <a:cubicBezTo>
                            <a:pt x="2787469" y="3457201"/>
                            <a:pt x="2446738" y="3434441"/>
                            <a:pt x="2248855" y="3444323"/>
                          </a:cubicBezTo>
                          <a:cubicBezTo>
                            <a:pt x="2050972" y="3454205"/>
                            <a:pt x="1814203" y="3394604"/>
                            <a:pt x="1698603" y="3444323"/>
                          </a:cubicBezTo>
                          <a:cubicBezTo>
                            <a:pt x="1583003" y="3494042"/>
                            <a:pt x="1356807" y="3441745"/>
                            <a:pt x="1244047" y="3444323"/>
                          </a:cubicBezTo>
                          <a:cubicBezTo>
                            <a:pt x="1131287" y="3446901"/>
                            <a:pt x="990038" y="3387749"/>
                            <a:pt x="741644" y="3444323"/>
                          </a:cubicBezTo>
                          <a:cubicBezTo>
                            <a:pt x="493250" y="3500897"/>
                            <a:pt x="358142" y="3427991"/>
                            <a:pt x="0" y="3444323"/>
                          </a:cubicBezTo>
                          <a:cubicBezTo>
                            <a:pt x="-26522" y="3228953"/>
                            <a:pt x="34418" y="3099565"/>
                            <a:pt x="0" y="2939156"/>
                          </a:cubicBezTo>
                          <a:cubicBezTo>
                            <a:pt x="-34418" y="2778747"/>
                            <a:pt x="49084" y="2681227"/>
                            <a:pt x="0" y="2433988"/>
                          </a:cubicBezTo>
                          <a:cubicBezTo>
                            <a:pt x="-49084" y="2186749"/>
                            <a:pt x="24488" y="2048612"/>
                            <a:pt x="0" y="1928821"/>
                          </a:cubicBezTo>
                          <a:cubicBezTo>
                            <a:pt x="-24488" y="1809030"/>
                            <a:pt x="49678" y="1602685"/>
                            <a:pt x="0" y="1458097"/>
                          </a:cubicBezTo>
                          <a:cubicBezTo>
                            <a:pt x="-49678" y="1313509"/>
                            <a:pt x="7787" y="1059193"/>
                            <a:pt x="0" y="952929"/>
                          </a:cubicBezTo>
                          <a:cubicBezTo>
                            <a:pt x="-7787" y="846665"/>
                            <a:pt x="88145" y="330581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Orchestrator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FD4385-A16A-FA4D-A603-9AB4D641A4D5}"/>
                </a:ext>
              </a:extLst>
            </p:cNvPr>
            <p:cNvSpPr txBox="1"/>
            <p:nvPr/>
          </p:nvSpPr>
          <p:spPr>
            <a:xfrm>
              <a:off x="5539459" y="1962038"/>
              <a:ext cx="19064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Primary Agent components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334FC3D-E1A3-A922-B9D5-53660249DD11}"/>
                </a:ext>
              </a:extLst>
            </p:cNvPr>
            <p:cNvSpPr/>
            <p:nvPr/>
          </p:nvSpPr>
          <p:spPr bwMode="auto">
            <a:xfrm>
              <a:off x="5558903" y="2651760"/>
              <a:ext cx="1804476" cy="2154436"/>
            </a:xfrm>
            <a:custGeom>
              <a:avLst/>
              <a:gdLst>
                <a:gd name="csX0" fmla="*/ 0 w 1804476"/>
                <a:gd name="csY0" fmla="*/ 0 h 2154436"/>
                <a:gd name="csX1" fmla="*/ 637582 w 1804476"/>
                <a:gd name="csY1" fmla="*/ 0 h 2154436"/>
                <a:gd name="csX2" fmla="*/ 1275163 w 1804476"/>
                <a:gd name="csY2" fmla="*/ 0 h 2154436"/>
                <a:gd name="csX3" fmla="*/ 1804476 w 1804476"/>
                <a:gd name="csY3" fmla="*/ 0 h 2154436"/>
                <a:gd name="csX4" fmla="*/ 1804476 w 1804476"/>
                <a:gd name="csY4" fmla="*/ 495520 h 2154436"/>
                <a:gd name="csX5" fmla="*/ 1804476 w 1804476"/>
                <a:gd name="csY5" fmla="*/ 1055674 h 2154436"/>
                <a:gd name="csX6" fmla="*/ 1804476 w 1804476"/>
                <a:gd name="csY6" fmla="*/ 1529650 h 2154436"/>
                <a:gd name="csX7" fmla="*/ 1804476 w 1804476"/>
                <a:gd name="csY7" fmla="*/ 2154436 h 2154436"/>
                <a:gd name="csX8" fmla="*/ 1221029 w 1804476"/>
                <a:gd name="csY8" fmla="*/ 2154436 h 2154436"/>
                <a:gd name="csX9" fmla="*/ 619537 w 1804476"/>
                <a:gd name="csY9" fmla="*/ 2154436 h 2154436"/>
                <a:gd name="csX10" fmla="*/ 0 w 1804476"/>
                <a:gd name="csY10" fmla="*/ 2154436 h 2154436"/>
                <a:gd name="csX11" fmla="*/ 0 w 1804476"/>
                <a:gd name="csY11" fmla="*/ 1637371 h 2154436"/>
                <a:gd name="csX12" fmla="*/ 0 w 1804476"/>
                <a:gd name="csY12" fmla="*/ 1141851 h 2154436"/>
                <a:gd name="csX13" fmla="*/ 0 w 1804476"/>
                <a:gd name="csY13" fmla="*/ 667875 h 2154436"/>
                <a:gd name="csX14" fmla="*/ 0 w 1804476"/>
                <a:gd name="csY14" fmla="*/ 0 h 2154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804476" h="2154436" fill="none" extrusionOk="0">
                  <a:moveTo>
                    <a:pt x="0" y="0"/>
                  </a:moveTo>
                  <a:cubicBezTo>
                    <a:pt x="236463" y="-28756"/>
                    <a:pt x="367754" y="-30556"/>
                    <a:pt x="637582" y="0"/>
                  </a:cubicBezTo>
                  <a:cubicBezTo>
                    <a:pt x="907410" y="30556"/>
                    <a:pt x="1093325" y="3113"/>
                    <a:pt x="1275163" y="0"/>
                  </a:cubicBezTo>
                  <a:cubicBezTo>
                    <a:pt x="1457001" y="-3113"/>
                    <a:pt x="1563637" y="-1858"/>
                    <a:pt x="1804476" y="0"/>
                  </a:cubicBezTo>
                  <a:cubicBezTo>
                    <a:pt x="1805888" y="186038"/>
                    <a:pt x="1784584" y="259590"/>
                    <a:pt x="1804476" y="495520"/>
                  </a:cubicBezTo>
                  <a:cubicBezTo>
                    <a:pt x="1824368" y="731450"/>
                    <a:pt x="1800195" y="847035"/>
                    <a:pt x="1804476" y="1055674"/>
                  </a:cubicBezTo>
                  <a:cubicBezTo>
                    <a:pt x="1808757" y="1264313"/>
                    <a:pt x="1812395" y="1328192"/>
                    <a:pt x="1804476" y="1529650"/>
                  </a:cubicBezTo>
                  <a:cubicBezTo>
                    <a:pt x="1796557" y="1731108"/>
                    <a:pt x="1826701" y="1994688"/>
                    <a:pt x="1804476" y="2154436"/>
                  </a:cubicBezTo>
                  <a:cubicBezTo>
                    <a:pt x="1624715" y="2180058"/>
                    <a:pt x="1436203" y="2159908"/>
                    <a:pt x="1221029" y="2154436"/>
                  </a:cubicBezTo>
                  <a:cubicBezTo>
                    <a:pt x="1005855" y="2148964"/>
                    <a:pt x="856047" y="2125181"/>
                    <a:pt x="619537" y="2154436"/>
                  </a:cubicBezTo>
                  <a:cubicBezTo>
                    <a:pt x="383027" y="2183691"/>
                    <a:pt x="221834" y="2125799"/>
                    <a:pt x="0" y="2154436"/>
                  </a:cubicBezTo>
                  <a:cubicBezTo>
                    <a:pt x="-11663" y="1924516"/>
                    <a:pt x="-25141" y="1800273"/>
                    <a:pt x="0" y="1637371"/>
                  </a:cubicBezTo>
                  <a:cubicBezTo>
                    <a:pt x="25141" y="1474469"/>
                    <a:pt x="6358" y="1326837"/>
                    <a:pt x="0" y="1141851"/>
                  </a:cubicBezTo>
                  <a:cubicBezTo>
                    <a:pt x="-6358" y="956865"/>
                    <a:pt x="17421" y="903387"/>
                    <a:pt x="0" y="667875"/>
                  </a:cubicBezTo>
                  <a:cubicBezTo>
                    <a:pt x="-17421" y="432363"/>
                    <a:pt x="-27544" y="328317"/>
                    <a:pt x="0" y="0"/>
                  </a:cubicBezTo>
                  <a:close/>
                </a:path>
                <a:path w="1804476" h="2154436" stroke="0" extrusionOk="0">
                  <a:moveTo>
                    <a:pt x="0" y="0"/>
                  </a:moveTo>
                  <a:cubicBezTo>
                    <a:pt x="285534" y="25114"/>
                    <a:pt x="356319" y="29645"/>
                    <a:pt x="601492" y="0"/>
                  </a:cubicBezTo>
                  <a:cubicBezTo>
                    <a:pt x="846665" y="-29645"/>
                    <a:pt x="977293" y="-10334"/>
                    <a:pt x="1184939" y="0"/>
                  </a:cubicBezTo>
                  <a:cubicBezTo>
                    <a:pt x="1392585" y="10334"/>
                    <a:pt x="1659299" y="16272"/>
                    <a:pt x="1804476" y="0"/>
                  </a:cubicBezTo>
                  <a:cubicBezTo>
                    <a:pt x="1814392" y="158950"/>
                    <a:pt x="1786537" y="265372"/>
                    <a:pt x="1804476" y="495520"/>
                  </a:cubicBezTo>
                  <a:cubicBezTo>
                    <a:pt x="1822415" y="725668"/>
                    <a:pt x="1789685" y="804537"/>
                    <a:pt x="1804476" y="1077218"/>
                  </a:cubicBezTo>
                  <a:cubicBezTo>
                    <a:pt x="1819267" y="1349899"/>
                    <a:pt x="1827258" y="1370056"/>
                    <a:pt x="1804476" y="1572738"/>
                  </a:cubicBezTo>
                  <a:cubicBezTo>
                    <a:pt x="1781694" y="1775420"/>
                    <a:pt x="1806653" y="1918992"/>
                    <a:pt x="1804476" y="2154436"/>
                  </a:cubicBezTo>
                  <a:cubicBezTo>
                    <a:pt x="1682856" y="2128600"/>
                    <a:pt x="1447435" y="2179873"/>
                    <a:pt x="1221029" y="2154436"/>
                  </a:cubicBezTo>
                  <a:cubicBezTo>
                    <a:pt x="994623" y="2128999"/>
                    <a:pt x="900993" y="2173886"/>
                    <a:pt x="637582" y="2154436"/>
                  </a:cubicBezTo>
                  <a:cubicBezTo>
                    <a:pt x="374171" y="2134986"/>
                    <a:pt x="279541" y="2164583"/>
                    <a:pt x="0" y="2154436"/>
                  </a:cubicBezTo>
                  <a:cubicBezTo>
                    <a:pt x="24853" y="1956645"/>
                    <a:pt x="-24685" y="1725206"/>
                    <a:pt x="0" y="1594283"/>
                  </a:cubicBezTo>
                  <a:cubicBezTo>
                    <a:pt x="24685" y="1463360"/>
                    <a:pt x="-20838" y="1346005"/>
                    <a:pt x="0" y="1120307"/>
                  </a:cubicBezTo>
                  <a:cubicBezTo>
                    <a:pt x="20838" y="894609"/>
                    <a:pt x="-11503" y="778267"/>
                    <a:pt x="0" y="581698"/>
                  </a:cubicBezTo>
                  <a:cubicBezTo>
                    <a:pt x="11503" y="385129"/>
                    <a:pt x="-12968" y="243012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62227666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B7E9FCB-DE2F-0CFD-62F2-D5F8F9C6E145}"/>
                </a:ext>
              </a:extLst>
            </p:cNvPr>
            <p:cNvSpPr txBox="1"/>
            <p:nvPr/>
          </p:nvSpPr>
          <p:spPr>
            <a:xfrm>
              <a:off x="5669280" y="2715768"/>
              <a:ext cx="1591056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Tools / APIs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MCP Server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Workflow 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B17FD8E-BDF1-1FDB-0A53-4EDD2EAF4CF2}"/>
                </a:ext>
              </a:extLst>
            </p:cNvPr>
            <p:cNvSpPr/>
            <p:nvPr/>
          </p:nvSpPr>
          <p:spPr bwMode="auto">
            <a:xfrm>
              <a:off x="7445926" y="2651761"/>
              <a:ext cx="2771593" cy="1051560"/>
            </a:xfrm>
            <a:custGeom>
              <a:avLst/>
              <a:gdLst>
                <a:gd name="csX0" fmla="*/ 0 w 2771593"/>
                <a:gd name="csY0" fmla="*/ 0 h 1051560"/>
                <a:gd name="csX1" fmla="*/ 692898 w 2771593"/>
                <a:gd name="csY1" fmla="*/ 0 h 1051560"/>
                <a:gd name="csX2" fmla="*/ 1330365 w 2771593"/>
                <a:gd name="csY2" fmla="*/ 0 h 1051560"/>
                <a:gd name="csX3" fmla="*/ 1967831 w 2771593"/>
                <a:gd name="csY3" fmla="*/ 0 h 1051560"/>
                <a:gd name="csX4" fmla="*/ 2771593 w 2771593"/>
                <a:gd name="csY4" fmla="*/ 0 h 1051560"/>
                <a:gd name="csX5" fmla="*/ 2771593 w 2771593"/>
                <a:gd name="csY5" fmla="*/ 504749 h 1051560"/>
                <a:gd name="csX6" fmla="*/ 2771593 w 2771593"/>
                <a:gd name="csY6" fmla="*/ 1051560 h 1051560"/>
                <a:gd name="csX7" fmla="*/ 2050979 w 2771593"/>
                <a:gd name="csY7" fmla="*/ 1051560 h 1051560"/>
                <a:gd name="csX8" fmla="*/ 1302649 w 2771593"/>
                <a:gd name="csY8" fmla="*/ 1051560 h 1051560"/>
                <a:gd name="csX9" fmla="*/ 0 w 2771593"/>
                <a:gd name="csY9" fmla="*/ 1051560 h 1051560"/>
                <a:gd name="csX10" fmla="*/ 0 w 2771593"/>
                <a:gd name="csY10" fmla="*/ 504749 h 1051560"/>
                <a:gd name="csX11" fmla="*/ 0 w 2771593"/>
                <a:gd name="csY11" fmla="*/ 0 h 1051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771593" h="1051560" fill="none" extrusionOk="0">
                  <a:moveTo>
                    <a:pt x="0" y="0"/>
                  </a:moveTo>
                  <a:cubicBezTo>
                    <a:pt x="160580" y="30164"/>
                    <a:pt x="374632" y="30581"/>
                    <a:pt x="692898" y="0"/>
                  </a:cubicBezTo>
                  <a:cubicBezTo>
                    <a:pt x="1011164" y="-30581"/>
                    <a:pt x="1063674" y="26591"/>
                    <a:pt x="1330365" y="0"/>
                  </a:cubicBezTo>
                  <a:cubicBezTo>
                    <a:pt x="1597056" y="-26591"/>
                    <a:pt x="1807910" y="20917"/>
                    <a:pt x="1967831" y="0"/>
                  </a:cubicBezTo>
                  <a:cubicBezTo>
                    <a:pt x="2127752" y="-20917"/>
                    <a:pt x="2459931" y="-13386"/>
                    <a:pt x="2771593" y="0"/>
                  </a:cubicBezTo>
                  <a:cubicBezTo>
                    <a:pt x="2775761" y="119328"/>
                    <a:pt x="2747406" y="392598"/>
                    <a:pt x="2771593" y="504749"/>
                  </a:cubicBezTo>
                  <a:cubicBezTo>
                    <a:pt x="2795780" y="616900"/>
                    <a:pt x="2765930" y="788695"/>
                    <a:pt x="2771593" y="1051560"/>
                  </a:cubicBezTo>
                  <a:cubicBezTo>
                    <a:pt x="2541359" y="1056909"/>
                    <a:pt x="2221079" y="1060098"/>
                    <a:pt x="2050979" y="1051560"/>
                  </a:cubicBezTo>
                  <a:cubicBezTo>
                    <a:pt x="1880879" y="1043022"/>
                    <a:pt x="1599893" y="1038491"/>
                    <a:pt x="1302649" y="1051560"/>
                  </a:cubicBezTo>
                  <a:cubicBezTo>
                    <a:pt x="1005405" y="1064630"/>
                    <a:pt x="619562" y="1014577"/>
                    <a:pt x="0" y="1051560"/>
                  </a:cubicBezTo>
                  <a:cubicBezTo>
                    <a:pt x="-26945" y="782407"/>
                    <a:pt x="6487" y="636811"/>
                    <a:pt x="0" y="504749"/>
                  </a:cubicBezTo>
                  <a:cubicBezTo>
                    <a:pt x="-6487" y="372687"/>
                    <a:pt x="-13650" y="195649"/>
                    <a:pt x="0" y="0"/>
                  </a:cubicBezTo>
                  <a:close/>
                </a:path>
                <a:path w="2771593" h="1051560" stroke="0" extrusionOk="0">
                  <a:moveTo>
                    <a:pt x="0" y="0"/>
                  </a:moveTo>
                  <a:cubicBezTo>
                    <a:pt x="313371" y="-33106"/>
                    <a:pt x="390679" y="-21115"/>
                    <a:pt x="692898" y="0"/>
                  </a:cubicBezTo>
                  <a:cubicBezTo>
                    <a:pt x="995117" y="21115"/>
                    <a:pt x="1153824" y="8052"/>
                    <a:pt x="1358081" y="0"/>
                  </a:cubicBezTo>
                  <a:cubicBezTo>
                    <a:pt x="1562338" y="-8052"/>
                    <a:pt x="1728635" y="-1741"/>
                    <a:pt x="2023263" y="0"/>
                  </a:cubicBezTo>
                  <a:cubicBezTo>
                    <a:pt x="2317891" y="1741"/>
                    <a:pt x="2591572" y="-33049"/>
                    <a:pt x="2771593" y="0"/>
                  </a:cubicBezTo>
                  <a:cubicBezTo>
                    <a:pt x="2766071" y="227000"/>
                    <a:pt x="2785845" y="341995"/>
                    <a:pt x="2771593" y="525780"/>
                  </a:cubicBezTo>
                  <a:cubicBezTo>
                    <a:pt x="2757341" y="709565"/>
                    <a:pt x="2752502" y="820825"/>
                    <a:pt x="2771593" y="1051560"/>
                  </a:cubicBezTo>
                  <a:cubicBezTo>
                    <a:pt x="2460790" y="1079660"/>
                    <a:pt x="2305996" y="1045208"/>
                    <a:pt x="2134127" y="1051560"/>
                  </a:cubicBezTo>
                  <a:cubicBezTo>
                    <a:pt x="1962258" y="1057912"/>
                    <a:pt x="1668762" y="1045194"/>
                    <a:pt x="1496660" y="1051560"/>
                  </a:cubicBezTo>
                  <a:cubicBezTo>
                    <a:pt x="1324558" y="1057926"/>
                    <a:pt x="1085892" y="1038920"/>
                    <a:pt x="831478" y="1051560"/>
                  </a:cubicBezTo>
                  <a:cubicBezTo>
                    <a:pt x="577064" y="1064200"/>
                    <a:pt x="299393" y="1077925"/>
                    <a:pt x="0" y="1051560"/>
                  </a:cubicBezTo>
                  <a:cubicBezTo>
                    <a:pt x="-23022" y="861939"/>
                    <a:pt x="23156" y="635275"/>
                    <a:pt x="0" y="515264"/>
                  </a:cubicBezTo>
                  <a:cubicBezTo>
                    <a:pt x="-23156" y="395253"/>
                    <a:pt x="5261" y="249454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62227666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70624E5-6CF2-2876-8BE4-57D5CF4ED854}"/>
                </a:ext>
              </a:extLst>
            </p:cNvPr>
            <p:cNvSpPr/>
            <p:nvPr/>
          </p:nvSpPr>
          <p:spPr bwMode="auto">
            <a:xfrm>
              <a:off x="7445728" y="3792986"/>
              <a:ext cx="2771593" cy="1013210"/>
            </a:xfrm>
            <a:custGeom>
              <a:avLst/>
              <a:gdLst>
                <a:gd name="csX0" fmla="*/ 0 w 2771593"/>
                <a:gd name="csY0" fmla="*/ 0 h 1013210"/>
                <a:gd name="csX1" fmla="*/ 692898 w 2771593"/>
                <a:gd name="csY1" fmla="*/ 0 h 1013210"/>
                <a:gd name="csX2" fmla="*/ 1330365 w 2771593"/>
                <a:gd name="csY2" fmla="*/ 0 h 1013210"/>
                <a:gd name="csX3" fmla="*/ 1967831 w 2771593"/>
                <a:gd name="csY3" fmla="*/ 0 h 1013210"/>
                <a:gd name="csX4" fmla="*/ 2771593 w 2771593"/>
                <a:gd name="csY4" fmla="*/ 0 h 1013210"/>
                <a:gd name="csX5" fmla="*/ 2771593 w 2771593"/>
                <a:gd name="csY5" fmla="*/ 486341 h 1013210"/>
                <a:gd name="csX6" fmla="*/ 2771593 w 2771593"/>
                <a:gd name="csY6" fmla="*/ 1013210 h 1013210"/>
                <a:gd name="csX7" fmla="*/ 2050979 w 2771593"/>
                <a:gd name="csY7" fmla="*/ 1013210 h 1013210"/>
                <a:gd name="csX8" fmla="*/ 1302649 w 2771593"/>
                <a:gd name="csY8" fmla="*/ 1013210 h 1013210"/>
                <a:gd name="csX9" fmla="*/ 0 w 2771593"/>
                <a:gd name="csY9" fmla="*/ 1013210 h 1013210"/>
                <a:gd name="csX10" fmla="*/ 0 w 2771593"/>
                <a:gd name="csY10" fmla="*/ 486341 h 1013210"/>
                <a:gd name="csX11" fmla="*/ 0 w 2771593"/>
                <a:gd name="csY11" fmla="*/ 0 h 1013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771593" h="1013210" fill="none" extrusionOk="0">
                  <a:moveTo>
                    <a:pt x="0" y="0"/>
                  </a:moveTo>
                  <a:cubicBezTo>
                    <a:pt x="160580" y="30164"/>
                    <a:pt x="374632" y="30581"/>
                    <a:pt x="692898" y="0"/>
                  </a:cubicBezTo>
                  <a:cubicBezTo>
                    <a:pt x="1011164" y="-30581"/>
                    <a:pt x="1063674" y="26591"/>
                    <a:pt x="1330365" y="0"/>
                  </a:cubicBezTo>
                  <a:cubicBezTo>
                    <a:pt x="1597056" y="-26591"/>
                    <a:pt x="1807910" y="20917"/>
                    <a:pt x="1967831" y="0"/>
                  </a:cubicBezTo>
                  <a:cubicBezTo>
                    <a:pt x="2127752" y="-20917"/>
                    <a:pt x="2459931" y="-13386"/>
                    <a:pt x="2771593" y="0"/>
                  </a:cubicBezTo>
                  <a:cubicBezTo>
                    <a:pt x="2794645" y="123005"/>
                    <a:pt x="2763992" y="344021"/>
                    <a:pt x="2771593" y="486341"/>
                  </a:cubicBezTo>
                  <a:cubicBezTo>
                    <a:pt x="2779194" y="628661"/>
                    <a:pt x="2786568" y="840742"/>
                    <a:pt x="2771593" y="1013210"/>
                  </a:cubicBezTo>
                  <a:cubicBezTo>
                    <a:pt x="2541359" y="1018559"/>
                    <a:pt x="2221079" y="1021748"/>
                    <a:pt x="2050979" y="1013210"/>
                  </a:cubicBezTo>
                  <a:cubicBezTo>
                    <a:pt x="1880879" y="1004672"/>
                    <a:pt x="1599893" y="1000141"/>
                    <a:pt x="1302649" y="1013210"/>
                  </a:cubicBezTo>
                  <a:cubicBezTo>
                    <a:pt x="1005405" y="1026280"/>
                    <a:pt x="619562" y="976227"/>
                    <a:pt x="0" y="1013210"/>
                  </a:cubicBezTo>
                  <a:cubicBezTo>
                    <a:pt x="-24873" y="890635"/>
                    <a:pt x="14406" y="620214"/>
                    <a:pt x="0" y="486341"/>
                  </a:cubicBezTo>
                  <a:cubicBezTo>
                    <a:pt x="-14406" y="352468"/>
                    <a:pt x="-17682" y="198400"/>
                    <a:pt x="0" y="0"/>
                  </a:cubicBezTo>
                  <a:close/>
                </a:path>
                <a:path w="2771593" h="1013210" stroke="0" extrusionOk="0">
                  <a:moveTo>
                    <a:pt x="0" y="0"/>
                  </a:moveTo>
                  <a:cubicBezTo>
                    <a:pt x="313371" y="-33106"/>
                    <a:pt x="390679" y="-21115"/>
                    <a:pt x="692898" y="0"/>
                  </a:cubicBezTo>
                  <a:cubicBezTo>
                    <a:pt x="995117" y="21115"/>
                    <a:pt x="1153824" y="8052"/>
                    <a:pt x="1358081" y="0"/>
                  </a:cubicBezTo>
                  <a:cubicBezTo>
                    <a:pt x="1562338" y="-8052"/>
                    <a:pt x="1728635" y="-1741"/>
                    <a:pt x="2023263" y="0"/>
                  </a:cubicBezTo>
                  <a:cubicBezTo>
                    <a:pt x="2317891" y="1741"/>
                    <a:pt x="2591572" y="-33049"/>
                    <a:pt x="2771593" y="0"/>
                  </a:cubicBezTo>
                  <a:cubicBezTo>
                    <a:pt x="2777982" y="111248"/>
                    <a:pt x="2767473" y="384210"/>
                    <a:pt x="2771593" y="506605"/>
                  </a:cubicBezTo>
                  <a:cubicBezTo>
                    <a:pt x="2775713" y="629000"/>
                    <a:pt x="2791948" y="895493"/>
                    <a:pt x="2771593" y="1013210"/>
                  </a:cubicBezTo>
                  <a:cubicBezTo>
                    <a:pt x="2460790" y="1041310"/>
                    <a:pt x="2305996" y="1006858"/>
                    <a:pt x="2134127" y="1013210"/>
                  </a:cubicBezTo>
                  <a:cubicBezTo>
                    <a:pt x="1962258" y="1019562"/>
                    <a:pt x="1668762" y="1006844"/>
                    <a:pt x="1496660" y="1013210"/>
                  </a:cubicBezTo>
                  <a:cubicBezTo>
                    <a:pt x="1324558" y="1019576"/>
                    <a:pt x="1085892" y="1000570"/>
                    <a:pt x="831478" y="1013210"/>
                  </a:cubicBezTo>
                  <a:cubicBezTo>
                    <a:pt x="577064" y="1025850"/>
                    <a:pt x="299393" y="1039575"/>
                    <a:pt x="0" y="1013210"/>
                  </a:cubicBezTo>
                  <a:cubicBezTo>
                    <a:pt x="-1459" y="842816"/>
                    <a:pt x="18040" y="634582"/>
                    <a:pt x="0" y="496473"/>
                  </a:cubicBezTo>
                  <a:cubicBezTo>
                    <a:pt x="-18040" y="358364"/>
                    <a:pt x="-10907" y="216434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62227666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30CD966-14B3-EAD9-C976-C93D491E844D}"/>
                </a:ext>
              </a:extLst>
            </p:cNvPr>
            <p:cNvSpPr txBox="1"/>
            <p:nvPr/>
          </p:nvSpPr>
          <p:spPr>
            <a:xfrm>
              <a:off x="7517786" y="2806249"/>
              <a:ext cx="2632053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Application / Interface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AKS, Existing Apps, etc.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BAF10B4-BA22-EA7A-B31D-61652BB5477B}"/>
                </a:ext>
              </a:extLst>
            </p:cNvPr>
            <p:cNvSpPr txBox="1"/>
            <p:nvPr/>
          </p:nvSpPr>
          <p:spPr>
            <a:xfrm>
              <a:off x="7515497" y="3929581"/>
              <a:ext cx="2632053" cy="6155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LLM / Model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OpenAI, Grok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175651B-C67F-B8D8-86E0-55BF034B0034}"/>
                </a:ext>
              </a:extLst>
            </p:cNvPr>
            <p:cNvSpPr/>
            <p:nvPr/>
          </p:nvSpPr>
          <p:spPr bwMode="auto">
            <a:xfrm>
              <a:off x="5558903" y="4870204"/>
              <a:ext cx="4658418" cy="808220"/>
            </a:xfrm>
            <a:custGeom>
              <a:avLst/>
              <a:gdLst>
                <a:gd name="csX0" fmla="*/ 0 w 4658418"/>
                <a:gd name="csY0" fmla="*/ 0 h 808220"/>
                <a:gd name="csX1" fmla="*/ 572320 w 4658418"/>
                <a:gd name="csY1" fmla="*/ 0 h 808220"/>
                <a:gd name="csX2" fmla="*/ 1191224 w 4658418"/>
                <a:gd name="csY2" fmla="*/ 0 h 808220"/>
                <a:gd name="csX3" fmla="*/ 1856712 w 4658418"/>
                <a:gd name="csY3" fmla="*/ 0 h 808220"/>
                <a:gd name="csX4" fmla="*/ 2522201 w 4658418"/>
                <a:gd name="csY4" fmla="*/ 0 h 808220"/>
                <a:gd name="csX5" fmla="*/ 3234273 w 4658418"/>
                <a:gd name="csY5" fmla="*/ 0 h 808220"/>
                <a:gd name="csX6" fmla="*/ 3946346 w 4658418"/>
                <a:gd name="csY6" fmla="*/ 0 h 808220"/>
                <a:gd name="csX7" fmla="*/ 4658418 w 4658418"/>
                <a:gd name="csY7" fmla="*/ 0 h 808220"/>
                <a:gd name="csX8" fmla="*/ 4658418 w 4658418"/>
                <a:gd name="csY8" fmla="*/ 412192 h 808220"/>
                <a:gd name="csX9" fmla="*/ 4658418 w 4658418"/>
                <a:gd name="csY9" fmla="*/ 808220 h 808220"/>
                <a:gd name="csX10" fmla="*/ 4132682 w 4658418"/>
                <a:gd name="csY10" fmla="*/ 808220 h 808220"/>
                <a:gd name="csX11" fmla="*/ 3560362 w 4658418"/>
                <a:gd name="csY11" fmla="*/ 808220 h 808220"/>
                <a:gd name="csX12" fmla="*/ 2988042 w 4658418"/>
                <a:gd name="csY12" fmla="*/ 808220 h 808220"/>
                <a:gd name="csX13" fmla="*/ 2415722 w 4658418"/>
                <a:gd name="csY13" fmla="*/ 808220 h 808220"/>
                <a:gd name="csX14" fmla="*/ 1796818 w 4658418"/>
                <a:gd name="csY14" fmla="*/ 808220 h 808220"/>
                <a:gd name="csX15" fmla="*/ 1038162 w 4658418"/>
                <a:gd name="csY15" fmla="*/ 808220 h 808220"/>
                <a:gd name="csX16" fmla="*/ 0 w 4658418"/>
                <a:gd name="csY16" fmla="*/ 808220 h 808220"/>
                <a:gd name="csX17" fmla="*/ 0 w 4658418"/>
                <a:gd name="csY17" fmla="*/ 404110 h 808220"/>
                <a:gd name="csX18" fmla="*/ 0 w 4658418"/>
                <a:gd name="csY18" fmla="*/ 0 h 8082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658418" h="808220" fill="none" extrusionOk="0">
                  <a:moveTo>
                    <a:pt x="0" y="0"/>
                  </a:moveTo>
                  <a:cubicBezTo>
                    <a:pt x="170217" y="-8559"/>
                    <a:pt x="299826" y="-6394"/>
                    <a:pt x="572320" y="0"/>
                  </a:cubicBezTo>
                  <a:cubicBezTo>
                    <a:pt x="844814" y="6394"/>
                    <a:pt x="944355" y="-18023"/>
                    <a:pt x="1191224" y="0"/>
                  </a:cubicBezTo>
                  <a:cubicBezTo>
                    <a:pt x="1438093" y="18023"/>
                    <a:pt x="1620611" y="30047"/>
                    <a:pt x="1856712" y="0"/>
                  </a:cubicBezTo>
                  <a:cubicBezTo>
                    <a:pt x="2092813" y="-30047"/>
                    <a:pt x="2328684" y="-760"/>
                    <a:pt x="2522201" y="0"/>
                  </a:cubicBezTo>
                  <a:cubicBezTo>
                    <a:pt x="2715718" y="760"/>
                    <a:pt x="2922801" y="8762"/>
                    <a:pt x="3234273" y="0"/>
                  </a:cubicBezTo>
                  <a:cubicBezTo>
                    <a:pt x="3545745" y="-8762"/>
                    <a:pt x="3645405" y="-18824"/>
                    <a:pt x="3946346" y="0"/>
                  </a:cubicBezTo>
                  <a:cubicBezTo>
                    <a:pt x="4247287" y="18824"/>
                    <a:pt x="4309237" y="34672"/>
                    <a:pt x="4658418" y="0"/>
                  </a:cubicBezTo>
                  <a:cubicBezTo>
                    <a:pt x="4652886" y="170118"/>
                    <a:pt x="4662756" y="292029"/>
                    <a:pt x="4658418" y="412192"/>
                  </a:cubicBezTo>
                  <a:cubicBezTo>
                    <a:pt x="4654080" y="532355"/>
                    <a:pt x="4662488" y="623331"/>
                    <a:pt x="4658418" y="808220"/>
                  </a:cubicBezTo>
                  <a:cubicBezTo>
                    <a:pt x="4499125" y="819115"/>
                    <a:pt x="4386219" y="806777"/>
                    <a:pt x="4132682" y="808220"/>
                  </a:cubicBezTo>
                  <a:cubicBezTo>
                    <a:pt x="3879145" y="809663"/>
                    <a:pt x="3791256" y="834888"/>
                    <a:pt x="3560362" y="808220"/>
                  </a:cubicBezTo>
                  <a:cubicBezTo>
                    <a:pt x="3329468" y="781552"/>
                    <a:pt x="3265169" y="782615"/>
                    <a:pt x="2988042" y="808220"/>
                  </a:cubicBezTo>
                  <a:cubicBezTo>
                    <a:pt x="2710915" y="833825"/>
                    <a:pt x="2683284" y="812599"/>
                    <a:pt x="2415722" y="808220"/>
                  </a:cubicBezTo>
                  <a:cubicBezTo>
                    <a:pt x="2148160" y="803841"/>
                    <a:pt x="2020790" y="809688"/>
                    <a:pt x="1796818" y="808220"/>
                  </a:cubicBezTo>
                  <a:cubicBezTo>
                    <a:pt x="1572846" y="806752"/>
                    <a:pt x="1226953" y="808185"/>
                    <a:pt x="1038162" y="808220"/>
                  </a:cubicBezTo>
                  <a:cubicBezTo>
                    <a:pt x="849371" y="808255"/>
                    <a:pt x="498051" y="837310"/>
                    <a:pt x="0" y="808220"/>
                  </a:cubicBezTo>
                  <a:cubicBezTo>
                    <a:pt x="10755" y="671283"/>
                    <a:pt x="15127" y="580554"/>
                    <a:pt x="0" y="404110"/>
                  </a:cubicBezTo>
                  <a:cubicBezTo>
                    <a:pt x="-15127" y="227666"/>
                    <a:pt x="-10681" y="180401"/>
                    <a:pt x="0" y="0"/>
                  </a:cubicBezTo>
                  <a:close/>
                </a:path>
                <a:path w="4658418" h="808220" stroke="0" extrusionOk="0">
                  <a:moveTo>
                    <a:pt x="0" y="0"/>
                  </a:moveTo>
                  <a:cubicBezTo>
                    <a:pt x="203975" y="10173"/>
                    <a:pt x="381374" y="2452"/>
                    <a:pt x="665488" y="0"/>
                  </a:cubicBezTo>
                  <a:cubicBezTo>
                    <a:pt x="949602" y="-2452"/>
                    <a:pt x="1157609" y="-16084"/>
                    <a:pt x="1284392" y="0"/>
                  </a:cubicBezTo>
                  <a:cubicBezTo>
                    <a:pt x="1411175" y="16084"/>
                    <a:pt x="1713359" y="-30507"/>
                    <a:pt x="1903296" y="0"/>
                  </a:cubicBezTo>
                  <a:cubicBezTo>
                    <a:pt x="2093233" y="30507"/>
                    <a:pt x="2267305" y="-8796"/>
                    <a:pt x="2475616" y="0"/>
                  </a:cubicBezTo>
                  <a:cubicBezTo>
                    <a:pt x="2683927" y="8796"/>
                    <a:pt x="2901537" y="-5463"/>
                    <a:pt x="3141105" y="0"/>
                  </a:cubicBezTo>
                  <a:cubicBezTo>
                    <a:pt x="3380673" y="5463"/>
                    <a:pt x="3489401" y="-15352"/>
                    <a:pt x="3760009" y="0"/>
                  </a:cubicBezTo>
                  <a:cubicBezTo>
                    <a:pt x="4030617" y="15352"/>
                    <a:pt x="4210308" y="-35809"/>
                    <a:pt x="4658418" y="0"/>
                  </a:cubicBezTo>
                  <a:cubicBezTo>
                    <a:pt x="4659617" y="192414"/>
                    <a:pt x="4648683" y="217684"/>
                    <a:pt x="4658418" y="404110"/>
                  </a:cubicBezTo>
                  <a:cubicBezTo>
                    <a:pt x="4668154" y="590536"/>
                    <a:pt x="4675927" y="693578"/>
                    <a:pt x="4658418" y="808220"/>
                  </a:cubicBezTo>
                  <a:cubicBezTo>
                    <a:pt x="4440489" y="828127"/>
                    <a:pt x="4161130" y="815767"/>
                    <a:pt x="3992930" y="808220"/>
                  </a:cubicBezTo>
                  <a:cubicBezTo>
                    <a:pt x="3824730" y="800673"/>
                    <a:pt x="3534520" y="798624"/>
                    <a:pt x="3280857" y="808220"/>
                  </a:cubicBezTo>
                  <a:cubicBezTo>
                    <a:pt x="3027194" y="817816"/>
                    <a:pt x="2813536" y="827984"/>
                    <a:pt x="2522201" y="808220"/>
                  </a:cubicBezTo>
                  <a:cubicBezTo>
                    <a:pt x="2230866" y="788456"/>
                    <a:pt x="2098481" y="833068"/>
                    <a:pt x="1856712" y="808220"/>
                  </a:cubicBezTo>
                  <a:cubicBezTo>
                    <a:pt x="1614943" y="783372"/>
                    <a:pt x="1467390" y="821224"/>
                    <a:pt x="1330977" y="808220"/>
                  </a:cubicBezTo>
                  <a:cubicBezTo>
                    <a:pt x="1194564" y="795216"/>
                    <a:pt x="854371" y="834638"/>
                    <a:pt x="572320" y="808220"/>
                  </a:cubicBezTo>
                  <a:cubicBezTo>
                    <a:pt x="290269" y="781802"/>
                    <a:pt x="212618" y="791894"/>
                    <a:pt x="0" y="808220"/>
                  </a:cubicBezTo>
                  <a:cubicBezTo>
                    <a:pt x="-15942" y="673093"/>
                    <a:pt x="-9314" y="588434"/>
                    <a:pt x="0" y="412192"/>
                  </a:cubicBezTo>
                  <a:cubicBezTo>
                    <a:pt x="9314" y="235950"/>
                    <a:pt x="-10329" y="138846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62227666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2E602E3-F332-A97B-DF4B-E5DF46C8EE83}"/>
                </a:ext>
              </a:extLst>
            </p:cNvPr>
            <p:cNvSpPr txBox="1"/>
            <p:nvPr/>
          </p:nvSpPr>
          <p:spPr>
            <a:xfrm>
              <a:off x="6535785" y="4934212"/>
              <a:ext cx="263205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Data Layer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EDAAE65-55DC-18D8-FBA9-9E73DAC56F50}"/>
                </a:ext>
              </a:extLst>
            </p:cNvPr>
            <p:cNvSpPr/>
            <p:nvPr/>
          </p:nvSpPr>
          <p:spPr>
            <a:xfrm>
              <a:off x="5514872" y="5889758"/>
              <a:ext cx="4784798" cy="46282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Existing repos / code bases</a:t>
              </a:r>
            </a:p>
          </p:txBody>
        </p:sp>
        <p:pic>
          <p:nvPicPr>
            <p:cNvPr id="70" name="Graphic 69" descr="Database outline">
              <a:extLst>
                <a:ext uri="{FF2B5EF4-FFF2-40B4-BE49-F238E27FC236}">
                  <a16:creationId xmlns:a16="http://schemas.microsoft.com/office/drawing/2014/main" id="{2C3A3D54-44DE-5A86-8873-793D76D93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22307" y="5195181"/>
              <a:ext cx="457200" cy="457200"/>
            </a:xfrm>
            <a:prstGeom prst="rect">
              <a:avLst/>
            </a:prstGeom>
          </p:spPr>
        </p:pic>
        <p:pic>
          <p:nvPicPr>
            <p:cNvPr id="71" name="Graphic 70" descr="Database outline">
              <a:extLst>
                <a:ext uri="{FF2B5EF4-FFF2-40B4-BE49-F238E27FC236}">
                  <a16:creationId xmlns:a16="http://schemas.microsoft.com/office/drawing/2014/main" id="{78FE0C6C-060E-A4D0-64FC-D4F497000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32541" y="5195181"/>
              <a:ext cx="457200" cy="457200"/>
            </a:xfrm>
            <a:prstGeom prst="rect">
              <a:avLst/>
            </a:prstGeom>
          </p:spPr>
        </p:pic>
        <p:pic>
          <p:nvPicPr>
            <p:cNvPr id="72" name="Graphic 71" descr="Database outline">
              <a:extLst>
                <a:ext uri="{FF2B5EF4-FFF2-40B4-BE49-F238E27FC236}">
                  <a16:creationId xmlns:a16="http://schemas.microsoft.com/office/drawing/2014/main" id="{2F8D1BCD-CC0F-9426-D58E-929DED2D3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12073" y="5195181"/>
              <a:ext cx="457200" cy="457200"/>
            </a:xfrm>
            <a:prstGeom prst="rect">
              <a:avLst/>
            </a:prstGeom>
          </p:spPr>
        </p:pic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4507CDD0-C46A-7E57-97DE-9E0D52855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47904" y="3154680"/>
              <a:ext cx="548640" cy="548640"/>
            </a:xfrm>
            <a:prstGeom prst="rect">
              <a:avLst/>
            </a:prstGeom>
          </p:spPr>
        </p:pic>
        <p:pic>
          <p:nvPicPr>
            <p:cNvPr id="74" name="Graphic 73" descr="Internet Of Things with solid fill">
              <a:extLst>
                <a:ext uri="{FF2B5EF4-FFF2-40B4-BE49-F238E27FC236}">
                  <a16:creationId xmlns:a16="http://schemas.microsoft.com/office/drawing/2014/main" id="{E8D83000-7F09-27B4-1AC9-DCCDCA71A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66353" y="4048955"/>
              <a:ext cx="548640" cy="548640"/>
            </a:xfrm>
            <a:prstGeom prst="rect">
              <a:avLst/>
            </a:prstGeom>
          </p:spPr>
        </p:pic>
        <p:pic>
          <p:nvPicPr>
            <p:cNvPr id="75" name="Graphic 74" descr="Workflow with solid fill">
              <a:extLst>
                <a:ext uri="{FF2B5EF4-FFF2-40B4-BE49-F238E27FC236}">
                  <a16:creationId xmlns:a16="http://schemas.microsoft.com/office/drawing/2014/main" id="{0591737F-1522-DA51-CFF8-01F403CA8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78407" y="4078157"/>
              <a:ext cx="548640" cy="548640"/>
            </a:xfrm>
            <a:prstGeom prst="rect">
              <a:avLst/>
            </a:prstGeom>
          </p:spPr>
        </p:pic>
        <p:pic>
          <p:nvPicPr>
            <p:cNvPr id="76" name="Graphic 75" descr="Blockchain with solid fill">
              <a:extLst>
                <a:ext uri="{FF2B5EF4-FFF2-40B4-BE49-F238E27FC236}">
                  <a16:creationId xmlns:a16="http://schemas.microsoft.com/office/drawing/2014/main" id="{542EBA08-7F8C-DE23-04C6-F8B83F046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475470" y="3008753"/>
              <a:ext cx="548640" cy="548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182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Comic Sans MS</vt:lpstr>
      <vt:lpstr>Segoe Sans Text</vt:lpstr>
      <vt:lpstr>Segoe Sans Text Semibold</vt:lpstr>
      <vt:lpstr>SegoeUIVariable</vt:lpstr>
      <vt:lpstr>Office Theme</vt:lpstr>
      <vt:lpstr>Whiteboard – Solutioning of an agentic use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Pajta</dc:creator>
  <cp:lastModifiedBy>Rene Pajta</cp:lastModifiedBy>
  <cp:revision>1</cp:revision>
  <dcterms:created xsi:type="dcterms:W3CDTF">2025-11-20T11:53:05Z</dcterms:created>
  <dcterms:modified xsi:type="dcterms:W3CDTF">2025-11-20T11:54:36Z</dcterms:modified>
</cp:coreProperties>
</file>